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9"/>
  </p:notesMasterIdLst>
  <p:handoutMasterIdLst>
    <p:handoutMasterId r:id="rId10"/>
  </p:handoutMasterIdLst>
  <p:sldIdLst>
    <p:sldId id="265" r:id="rId2"/>
    <p:sldId id="322" r:id="rId3"/>
    <p:sldId id="324" r:id="rId4"/>
    <p:sldId id="328" r:id="rId5"/>
    <p:sldId id="327" r:id="rId6"/>
    <p:sldId id="316" r:id="rId7"/>
    <p:sldId id="263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72" autoAdjust="0"/>
  </p:normalViewPr>
  <p:slideViewPr>
    <p:cSldViewPr snapToGrid="0" snapToObjects="1" showGuides="1">
      <p:cViewPr varScale="1">
        <p:scale>
          <a:sx n="99" d="100"/>
          <a:sy n="99" d="100"/>
        </p:scale>
        <p:origin x="1061" y="8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opus.com/authid/detail.uri?authorId=57195390259" TargetMode="External"/><Relationship Id="rId2" Type="http://schemas.openxmlformats.org/officeDocument/2006/relationships/hyperlink" Target="https://scholar.google.com/citations?hl=ru&amp;user=IyaNhn8AAAAJ&amp;view_op=list_works&amp;sortby=pubdat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copus.com/authid/detail.uri?authorId=57934743400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pc_zJbCpdEBaWPRkKPSP1UM-KCUeqMoUo9EPHxbbfE8/edit?usp=sharing" TargetMode="External"/><Relationship Id="rId2" Type="http://schemas.openxmlformats.org/officeDocument/2006/relationships/hyperlink" Target="https://drive.google.com/drive/folders/11te9R9Wwx58D4VAjEQ5IdL0lmaTxpuX2?usp=sharing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hyperlink" Target="https://github.com/itmo-cv-lab/modern-nn-architectures-course-2026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Introduction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Современные архитектуры нейронных сетей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Лекции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Google Scholar </a:t>
            </a:r>
            <a:r>
              <a:rPr lang="en-US" dirty="0"/>
              <a:t>| </a:t>
            </a:r>
            <a:r>
              <a:rPr lang="en-US" dirty="0">
                <a:hlinkClick r:id="rId3"/>
              </a:rPr>
              <a:t>Scopus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Контакты</a:t>
            </a:r>
            <a:r>
              <a:rPr lang="en-US" dirty="0"/>
              <a:t>: @a1arick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Савельев Александр Геннадьевич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Авторы курса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Практики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Senior Computer Vision Engineer, </a:t>
            </a:r>
            <a:r>
              <a:rPr lang="en-US" u="sng" dirty="0"/>
              <a:t>VK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Scopus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Контакты</a:t>
            </a:r>
            <a:r>
              <a:rPr lang="en-US" dirty="0"/>
              <a:t>: @toropov_alexey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Торопов Алексей     Геннадьевич</a:t>
            </a:r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1525" y="1159374"/>
            <a:ext cx="7776104" cy="3410856"/>
          </a:xfrm>
        </p:spPr>
        <p:txBody>
          <a:bodyPr/>
          <a:lstStyle/>
          <a:p>
            <a:pPr lvl="1"/>
            <a:r>
              <a:rPr lang="ru-RU" dirty="0"/>
              <a:t>Курс посвящён современным архитектурам нейронных сетей и актуальным направлениям их развития. Основное внимание уделяется формированию целостного представления о подходах и принципах, лежащих в основе наиболее значимых решений в области искусственного интеллекта. Материал сочетает обзор ключевых тенденций с акцентом на понимание взаимосвязей между различными архитектурными подходами.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⚠️ </a:t>
            </a:r>
            <a:r>
              <a:rPr lang="ru-RU" b="1" dirty="0"/>
              <a:t>Что НЕ будет в курсе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Подробного разбора конкретных статей.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Специализированных курсов по CV и NLP — они существуют отдельно.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 курсе</a:t>
            </a:r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81EF7-EF74-C1A2-B4AA-15249408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E9CFC-D797-45EE-BE92-95CE2963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 курса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927AF-4686-7DE3-167D-B09AD00BCE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Convolutional Neural Networks (CNNs)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Transformer: Fundamentals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Transformer Evolution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Generative Architectures: Basics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Generative Architectures: Advanced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Architectures for Multimodality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Quantization and Inference Optimization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Training on Distributed Hardware</a:t>
            </a:r>
          </a:p>
        </p:txBody>
      </p:sp>
    </p:spTree>
    <p:extLst>
      <p:ext uri="{BB962C8B-B14F-4D97-AF65-F5344CB8AC3E}">
        <p14:creationId xmlns:p14="http://schemas.microsoft.com/office/powerpoint/2010/main" val="170981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A09B-9323-1FBE-CF5B-77F86C85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7B26-6FCF-CA36-1EEA-B4433B35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Формат курса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50CAF-7D63-6D77-4A1F-1E0F4B2BB0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8 лекций.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8 практических занятий.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7 домашних заданий</a:t>
            </a:r>
            <a:r>
              <a:rPr lang="en-US" sz="1600" dirty="0"/>
              <a:t> (</a:t>
            </a:r>
            <a:r>
              <a:rPr lang="ru-RU" sz="1600" dirty="0"/>
              <a:t>уточним позже).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2 гостевые лекции от специалистов </a:t>
            </a:r>
            <a:r>
              <a:rPr lang="en-US" sz="1600" i="1" u="sng" dirty="0" err="1"/>
              <a:t>ecom.tech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Финальный экзамен в формате </a:t>
            </a:r>
            <a:r>
              <a:rPr lang="ru-RU" sz="1600" b="1" dirty="0"/>
              <a:t>викторины</a:t>
            </a:r>
            <a:r>
              <a:rPr lang="ru-RU" sz="1600" dirty="0"/>
              <a:t> (по аналогии с задачами информационного поиска и компьютерного зрения).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Для допуска к экзамену: </a:t>
            </a:r>
            <a:r>
              <a:rPr lang="ru-RU" sz="1600" b="1" dirty="0"/>
              <a:t>сданы все домашние задания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64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b="1" dirty="0">
                <a:hlinkClick r:id="rId2"/>
              </a:rPr>
              <a:t>Google Диск</a:t>
            </a:r>
            <a:r>
              <a:rPr lang="ru-RU" dirty="0"/>
              <a:t>: сдача домашних заданий (каждый студент заводит папку с фамилией и инициалами).</a:t>
            </a:r>
          </a:p>
          <a:p>
            <a:br>
              <a:rPr lang="ru-RU" dirty="0">
                <a:hlinkClick r:id="rId3"/>
              </a:rPr>
            </a:br>
            <a:r>
              <a:rPr lang="ru-RU" b="1" dirty="0">
                <a:hlinkClick r:id="rId3"/>
              </a:rPr>
              <a:t>Таблица учета домашних заданий</a:t>
            </a:r>
            <a:br>
              <a:rPr lang="ru-RU" dirty="0">
                <a:hlinkClick r:id="rId3"/>
              </a:rPr>
            </a:br>
            <a:endParaRPr lang="ru-RU" dirty="0"/>
          </a:p>
          <a:p>
            <a:r>
              <a:rPr lang="ru-RU" b="1" dirty="0">
                <a:hlinkClick r:id="rId4"/>
              </a:rPr>
              <a:t>GitHub</a:t>
            </a:r>
            <a:r>
              <a:rPr lang="ru-RU" dirty="0"/>
              <a:t>: лекции, презентации, ноутбуки, материалы.</a:t>
            </a:r>
          </a:p>
        </p:txBody>
      </p:sp>
      <p:pic>
        <p:nvPicPr>
          <p:cNvPr id="2" name="Рисунок 1" descr="generated-image.png">
            <a:extLst>
              <a:ext uri="{FF2B5EF4-FFF2-40B4-BE49-F238E27FC236}">
                <a16:creationId xmlns:a16="http://schemas.microsoft.com/office/drawing/2014/main" id="{FFC4DFB5-E2A3-7213-80A5-7D905AE30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75" y="389364"/>
            <a:ext cx="2782372" cy="418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5425</TotalTime>
  <Words>229</Words>
  <Application>Microsoft Office PowerPoint</Application>
  <PresentationFormat>Экран (16:9)</PresentationFormat>
  <Paragraphs>37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Introduction Современные архитектуры нейронных сетей</vt:lpstr>
      <vt:lpstr>Авторы курса</vt:lpstr>
      <vt:lpstr>О курсе</vt:lpstr>
      <vt:lpstr>План курса</vt:lpstr>
      <vt:lpstr>Формат курса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Александр Савельев</cp:lastModifiedBy>
  <cp:revision>106</cp:revision>
  <dcterms:created xsi:type="dcterms:W3CDTF">2014-06-27T12:30:22Z</dcterms:created>
  <dcterms:modified xsi:type="dcterms:W3CDTF">2026-09-10T21:34:21Z</dcterms:modified>
</cp:coreProperties>
</file>